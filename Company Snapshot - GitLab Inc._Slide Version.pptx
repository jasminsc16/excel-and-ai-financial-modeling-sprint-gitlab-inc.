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hyperlink" Target="https://docs.google.com/document/u/1/d/11kzXt8XSYXpyrD4xVT_-GCAvjxpBWl3lKKavNeDOYcE/edit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gitlab-logo-10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050" y="242175"/>
            <a:ext cx="2525600" cy="55235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4123550" y="219100"/>
            <a:ext cx="4003200" cy="5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800">
                <a:solidFill>
                  <a:schemeClr val="dk2"/>
                </a:solidFill>
              </a:rPr>
              <a:t>GitLab Inc. Snapshot</a:t>
            </a:r>
            <a:endParaRPr b="1" i="1" sz="2800">
              <a:solidFill>
                <a:schemeClr val="dk2"/>
              </a:solidFill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62850" y="1379375"/>
            <a:ext cx="1457100" cy="35457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1606600" y="1379375"/>
            <a:ext cx="1389900" cy="35457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3083150" y="1379375"/>
            <a:ext cx="1457100" cy="35457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4626900" y="1379375"/>
            <a:ext cx="1389900" cy="35457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3"/>
          <p:cNvSpPr/>
          <p:nvPr/>
        </p:nvSpPr>
        <p:spPr>
          <a:xfrm>
            <a:off x="6103450" y="1379375"/>
            <a:ext cx="1389900" cy="35139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3"/>
          <p:cNvSpPr/>
          <p:nvPr/>
        </p:nvSpPr>
        <p:spPr>
          <a:xfrm>
            <a:off x="7580000" y="1379375"/>
            <a:ext cx="1389900" cy="35139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3"/>
          <p:cNvSpPr txBox="1"/>
          <p:nvPr/>
        </p:nvSpPr>
        <p:spPr>
          <a:xfrm>
            <a:off x="306600" y="1379375"/>
            <a:ext cx="969600" cy="5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2"/>
                </a:solidFill>
              </a:rPr>
              <a:t>Company Overview</a:t>
            </a:r>
            <a:endParaRPr b="1" i="1" sz="1200">
              <a:solidFill>
                <a:schemeClr val="dk2"/>
              </a:solidFill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1816750" y="1379375"/>
            <a:ext cx="969600" cy="8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2"/>
                </a:solidFill>
              </a:rPr>
              <a:t>Business Segments</a:t>
            </a:r>
            <a:endParaRPr b="1" i="1" sz="1200">
              <a:solidFill>
                <a:schemeClr val="dk2"/>
              </a:solidFill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3262100" y="1379375"/>
            <a:ext cx="1099200" cy="7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2"/>
                </a:solidFill>
              </a:rPr>
              <a:t>Key Risks</a:t>
            </a:r>
            <a:endParaRPr b="1" i="1" sz="1200">
              <a:solidFill>
                <a:schemeClr val="dk2"/>
              </a:solidFill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4746450" y="1379375"/>
            <a:ext cx="1099200" cy="7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2"/>
                </a:solidFill>
              </a:rPr>
              <a:t>Competitive Landscape</a:t>
            </a:r>
            <a:endParaRPr b="1" i="1" sz="1200">
              <a:solidFill>
                <a:schemeClr val="dk2"/>
              </a:solidFill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6230800" y="1379375"/>
            <a:ext cx="1135200" cy="8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2"/>
                </a:solidFill>
              </a:rPr>
              <a:t>Management &amp; Tone</a:t>
            </a:r>
            <a:endParaRPr b="1" i="1" sz="1200">
              <a:solidFill>
                <a:schemeClr val="dk2"/>
              </a:solidFill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7725350" y="1379375"/>
            <a:ext cx="10992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2"/>
                </a:solidFill>
              </a:rPr>
              <a:t>Strengths &amp; Red Flags</a:t>
            </a:r>
            <a:endParaRPr b="1" i="1" sz="1200">
              <a:solidFill>
                <a:schemeClr val="dk2"/>
              </a:solidFill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4015450" y="794525"/>
            <a:ext cx="46050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u="sng">
                <a:solidFill>
                  <a:schemeClr val="hlink"/>
                </a:solidFill>
                <a:hlinkClick r:id="rId4"/>
              </a:rPr>
              <a:t>Company Snapshot - GitLab Inc. Document Version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69" name="Google Shape;69;p13"/>
          <p:cNvSpPr txBox="1"/>
          <p:nvPr/>
        </p:nvSpPr>
        <p:spPr>
          <a:xfrm>
            <a:off x="62850" y="1891175"/>
            <a:ext cx="1457100" cy="30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Unified DevSecOps platform (planning → deployment)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Open-core model, subscription-driven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~$759M FY25 revenue (+31% YoY)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Global reach: 150+ countries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70" name="Google Shape;70;p13"/>
          <p:cNvSpPr txBox="1"/>
          <p:nvPr/>
        </p:nvSpPr>
        <p:spPr>
          <a:xfrm>
            <a:off x="1429600" y="1891175"/>
            <a:ext cx="1566900" cy="3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Subscriptions (core): SaaS, self-managed, Dedicated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Professional services: Consulting, migration, training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Tiers: Free | Premium | Ultimate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71" name="Google Shape;71;p13"/>
          <p:cNvSpPr txBox="1"/>
          <p:nvPr/>
        </p:nvSpPr>
        <p:spPr>
          <a:xfrm>
            <a:off x="2982950" y="1891175"/>
            <a:ext cx="1566900" cy="30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Security/privacy vulnerabilities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Competition with GitHub (Microsoft)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Path to profitability &amp; cash flow (-8% OCF margin)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Customer adoption/monetization risk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Litigation tied to AI disclosures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72" name="Google Shape;72;p13"/>
          <p:cNvSpPr txBox="1"/>
          <p:nvPr/>
        </p:nvSpPr>
        <p:spPr>
          <a:xfrm>
            <a:off x="4487550" y="1891175"/>
            <a:ext cx="1617000" cy="30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Main rival: GitHub/Microsoft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Others: Point-solution CI/CD &amp; security tools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Edge: Single application, integrated security, AI (GitLab Duo), open-core community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73" name="Google Shape;73;p13"/>
          <p:cNvSpPr txBox="1"/>
          <p:nvPr/>
        </p:nvSpPr>
        <p:spPr>
          <a:xfrm>
            <a:off x="6103450" y="1891175"/>
            <a:ext cx="1389900" cy="29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n" sz="1000">
                <a:solidFill>
                  <a:schemeClr val="dk2"/>
                </a:solidFill>
              </a:rPr>
              <a:t>New CRO: Ian Steward (May 2025)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n" sz="1000">
                <a:solidFill>
                  <a:schemeClr val="dk2"/>
                </a:solidFill>
              </a:rPr>
              <a:t>Interim CRO Ashley Kramer until Q1 FY26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n" sz="1000">
                <a:solidFill>
                  <a:schemeClr val="dk2"/>
                </a:solidFill>
              </a:rPr>
              <a:t>Tone: Optimistic but measured (AI &amp; security tailwinds vs. profitability/cash flow risks)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74" name="Google Shape;74;p13"/>
          <p:cNvSpPr txBox="1"/>
          <p:nvPr/>
        </p:nvSpPr>
        <p:spPr>
          <a:xfrm>
            <a:off x="7595600" y="1891175"/>
            <a:ext cx="1389900" cy="29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</a:rPr>
              <a:t>Positives:</a:t>
            </a:r>
            <a:endParaRPr b="1" sz="800">
              <a:solidFill>
                <a:schemeClr val="dk2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●"/>
            </a:pPr>
            <a:r>
              <a:rPr lang="en" sz="800">
                <a:solidFill>
                  <a:schemeClr val="dk2"/>
                </a:solidFill>
              </a:rPr>
              <a:t>89% gross margins</a:t>
            </a:r>
            <a:endParaRPr sz="800">
              <a:solidFill>
                <a:schemeClr val="dk2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●"/>
            </a:pPr>
            <a:r>
              <a:rPr lang="en" sz="800">
                <a:solidFill>
                  <a:schemeClr val="dk2"/>
                </a:solidFill>
              </a:rPr>
              <a:t>Strong enterprise cohort growth ($100k+ / $1M+)</a:t>
            </a:r>
            <a:endParaRPr sz="800">
              <a:solidFill>
                <a:schemeClr val="dk2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●"/>
            </a:pPr>
            <a:r>
              <a:rPr lang="en" sz="800">
                <a:solidFill>
                  <a:schemeClr val="dk2"/>
                </a:solidFill>
              </a:rPr>
              <a:t>AWS partnership for AI (Amazon Q)</a:t>
            </a:r>
            <a:endParaRPr sz="800">
              <a:solidFill>
                <a:schemeClr val="dk2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●"/>
            </a:pPr>
            <a:r>
              <a:rPr lang="en" sz="800">
                <a:solidFill>
                  <a:schemeClr val="dk2"/>
                </a:solidFill>
              </a:rPr>
              <a:t>Open-core community velocity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</a:rPr>
              <a:t>Red Flags:</a:t>
            </a:r>
            <a:endParaRPr b="1" sz="800">
              <a:solidFill>
                <a:schemeClr val="dk2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●"/>
            </a:pPr>
            <a:r>
              <a:rPr lang="en" sz="800">
                <a:solidFill>
                  <a:schemeClr val="dk2"/>
                </a:solidFill>
              </a:rPr>
              <a:t>Operating losses ($143M)</a:t>
            </a:r>
            <a:endParaRPr sz="800">
              <a:solidFill>
                <a:schemeClr val="dk2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●"/>
            </a:pPr>
            <a:r>
              <a:rPr lang="en" sz="800">
                <a:solidFill>
                  <a:schemeClr val="dk2"/>
                </a:solidFill>
              </a:rPr>
              <a:t>Negative OCF margin</a:t>
            </a:r>
            <a:endParaRPr sz="800">
              <a:solidFill>
                <a:schemeClr val="dk2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●"/>
            </a:pPr>
            <a:r>
              <a:rPr lang="en" sz="800">
                <a:solidFill>
                  <a:schemeClr val="dk2"/>
                </a:solidFill>
              </a:rPr>
              <a:t>Declining retention (DBNR 130% → 123%)</a:t>
            </a:r>
            <a:endParaRPr sz="800">
              <a:solidFill>
                <a:schemeClr val="dk2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●"/>
            </a:pPr>
            <a:r>
              <a:rPr lang="en" sz="800">
                <a:solidFill>
                  <a:schemeClr val="dk2"/>
                </a:solidFill>
              </a:rPr>
              <a:t>AI-related litigation</a:t>
            </a:r>
            <a:endParaRPr sz="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